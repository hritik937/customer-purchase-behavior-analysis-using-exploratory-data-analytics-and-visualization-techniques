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0701FC-7B94-4E8F-A771-8D0425C23375}" type="datetimeFigureOut">
              <a:rPr lang="en-IN" smtClean="0"/>
              <a:t>28-04-2026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649F7-3B7E-4A71-B746-D8F864831AF2}" type="slidenum">
              <a:rPr lang="en-IN" smtClean="0"/>
              <a:t>‹#›</a:t>
            </a:fld>
            <a:endParaRPr lang="en-IN"/>
          </a:p>
        </p:txBody>
      </p:sp>
    </p:spTree>
    <p:extLst>
      <p:ext uri="{BB962C8B-B14F-4D97-AF65-F5344CB8AC3E}">
        <p14:creationId xmlns:p14="http://schemas.microsoft.com/office/powerpoint/2010/main" val="1499004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Key facts used on this slide: 3,900 records and customer behavior fields from the dataset source pages.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The workflow diagram is original slide content. Non-trivial claims about dataset limitations are grounded in the available fields shown in the public dataset pages.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directly from the locally generated top-items and category-share charts.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from the seasonal spend line chart and category-season heatmap generated locally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Segment names and counts come from the rule-based logic implemented in src/analyze_customer_behavior.py.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from the locally generated age distribution, payment-method, and top-locations charts.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Business recommendations are interpretations of the locally generated visuals rather than externally quoted prescriptions.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45FD-12EE-A10A-B66F-8216CAE26A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607C3-048E-2BF6-3522-AEBA7C46DE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610169-2CFC-C024-179E-1CDC2EBED861}"/>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F0143BD1-9FA8-CACC-5043-6C316CD329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5BBD0-1AD8-F9A6-B41E-E74FB48A4D8C}"/>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64814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1520-3E0C-592A-4E56-02AEA5900E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E28224-1B6A-79CD-9211-207413C0D8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92F3A-B670-C931-5BB6-59A6E189BF12}"/>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838707D9-2873-9AF0-DA27-C0A1F0B365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8FB18-B8D5-087F-9FA1-AD26ECADFA52}"/>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87064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0E1F-6B3B-71A3-0BB2-30EA7BCA72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3BE7FD-50B8-346C-DE8B-2757665C4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A8B178-264D-10CE-DA23-0679443F99C0}"/>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C20573A1-686B-F6C2-4D18-644B33D90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568975-20DD-CFDC-E54F-913C49648B36}"/>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325395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BBCD-DCAD-CD36-2977-9B5A48539A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7DC05B-A960-07B7-360F-3D761DA994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565500-66EA-ED69-CFE3-BC943E8349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418FB6-1BA1-D599-CBAC-56FB35D43929}"/>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6" name="Footer Placeholder 5">
            <a:extLst>
              <a:ext uri="{FF2B5EF4-FFF2-40B4-BE49-F238E27FC236}">
                <a16:creationId xmlns:a16="http://schemas.microsoft.com/office/drawing/2014/main" id="{1B925C0E-D7C5-C9DC-32C9-89F31DF31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A9B2E-C199-3343-E0F4-F3CEB380A205}"/>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2959946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48D48-5F97-21BF-2F31-9A3DF148D0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64E6D4-1C6F-1326-0ADD-609696B3C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871745-B7FC-07BE-9292-488FACE82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810C94-82DA-7F41-0C6C-0AB8C5774E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7A02C8-FB7F-00DF-0811-21C26FCCF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2AC439-D036-55BA-19DB-6919FC8EFA5E}"/>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8" name="Footer Placeholder 7">
            <a:extLst>
              <a:ext uri="{FF2B5EF4-FFF2-40B4-BE49-F238E27FC236}">
                <a16:creationId xmlns:a16="http://schemas.microsoft.com/office/drawing/2014/main" id="{692E939B-F2BC-2C94-A07F-7259EAB8ED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975736-1D85-DD45-B9C4-F6297F83CDD5}"/>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681217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26B6A-7085-05CD-AC46-810FBCABCE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96C191-588C-F022-7412-5E4801941571}"/>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4" name="Footer Placeholder 3">
            <a:extLst>
              <a:ext uri="{FF2B5EF4-FFF2-40B4-BE49-F238E27FC236}">
                <a16:creationId xmlns:a16="http://schemas.microsoft.com/office/drawing/2014/main" id="{E6B62654-B715-175E-B5CF-14E0F9101E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C9848F-C43A-6B1E-544F-9642D3BBA398}"/>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4067868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083F5F-9106-2FFF-69DE-78D2CB9D4551}"/>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3" name="Footer Placeholder 2">
            <a:extLst>
              <a:ext uri="{FF2B5EF4-FFF2-40B4-BE49-F238E27FC236}">
                <a16:creationId xmlns:a16="http://schemas.microsoft.com/office/drawing/2014/main" id="{DD2AA573-BBC4-EC66-2D74-D1DB9C9C3C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C275FF-3F13-F338-7B05-D75037A0342E}"/>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48807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95AB5-9E61-E71D-850B-ED41898E4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2400A5-4DC4-9CAA-B4FF-A7F43C2607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E2838F-AF80-9313-2CDA-A7BD31F7C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4A442-1F6A-1ECB-E31F-AFE94B97BE25}"/>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6" name="Footer Placeholder 5">
            <a:extLst>
              <a:ext uri="{FF2B5EF4-FFF2-40B4-BE49-F238E27FC236}">
                <a16:creationId xmlns:a16="http://schemas.microsoft.com/office/drawing/2014/main" id="{305F3234-8CF4-133E-A41C-3308BDE6D0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669A7-C0B2-BD6A-84D6-267BC6098C71}"/>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00320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603A-6498-2730-5E06-3C3A93CD1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4EC3AD-E74E-1575-CBAC-85D58B6B5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935922-8482-DAFB-E651-B8B09E5D3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C62958-8AAD-6E18-B880-312C2B636EE8}"/>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6" name="Footer Placeholder 5">
            <a:extLst>
              <a:ext uri="{FF2B5EF4-FFF2-40B4-BE49-F238E27FC236}">
                <a16:creationId xmlns:a16="http://schemas.microsoft.com/office/drawing/2014/main" id="{6FB78483-F442-EA8B-1546-B0CE4A4FFB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89D681-3366-08D2-C3E5-5B6BECA97D59}"/>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241545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5B48-EA8E-C827-CB29-6B3736EA29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6519CF-A17F-1864-7A22-B24D4A6816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78F02B-6FA2-861D-0D0C-527B022643AA}"/>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CB90706E-608C-A969-B08E-11199B7FF9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86A81-1838-BC70-1144-F472600576E9}"/>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3070438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8C4E2C-C3C4-7903-C140-6A5005F316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B7C900-D9CF-1727-4282-3B797F053A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62A2D-259D-486E-D342-23F8A1889BCD}"/>
              </a:ext>
            </a:extLst>
          </p:cNvPr>
          <p:cNvSpPr>
            <a:spLocks noGrp="1"/>
          </p:cNvSpPr>
          <p:nvPr>
            <p:ph type="dt" sz="half" idx="10"/>
          </p:nvPr>
        </p:nvSpPr>
        <p:spPr/>
        <p:txBody>
          <a:body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80DEBE5E-533B-03DF-B60C-3FA161FF9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8D78AF-DE2C-3C01-1341-2DCD9DC3D816}"/>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647967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87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471462-E88B-6EF8-125A-2BD2F75FD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65AB1E-F11D-69A8-BECA-A20F51305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635E55-9162-6C00-8AC3-792077AF8B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FD5EA1-505A-4285-A07D-44217354BA99}" type="datetimeFigureOut">
              <a:rPr lang="en-IN" smtClean="0"/>
              <a:t>28-04-2026</a:t>
            </a:fld>
            <a:endParaRPr lang="en-IN"/>
          </a:p>
        </p:txBody>
      </p:sp>
      <p:sp>
        <p:nvSpPr>
          <p:cNvPr id="5" name="Footer Placeholder 4">
            <a:extLst>
              <a:ext uri="{FF2B5EF4-FFF2-40B4-BE49-F238E27FC236}">
                <a16:creationId xmlns:a16="http://schemas.microsoft.com/office/drawing/2014/main" id="{16C28AA8-6CAF-E7F6-7F4D-24F469F59D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A4C3CE8-7A2C-2706-44D6-CC8840BAEE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3FE18-2029-465D-A9DA-0FCB7AA5A54A}" type="slidenum">
              <a:rPr lang="en-IN" smtClean="0"/>
              <a:t>‹#›</a:t>
            </a:fld>
            <a:endParaRPr lang="en-IN"/>
          </a:p>
        </p:txBody>
      </p:sp>
    </p:spTree>
    <p:extLst>
      <p:ext uri="{BB962C8B-B14F-4D97-AF65-F5344CB8AC3E}">
        <p14:creationId xmlns:p14="http://schemas.microsoft.com/office/powerpoint/2010/main" val="1188929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5F8FC"/>
          </a:solidFill>
          <a:ln w="12700">
            <a:solidFill>
              <a:srgbClr val="F5F8FC"/>
            </a:solidFill>
            <a:prstDash val="solid"/>
          </a:ln>
        </p:spPr>
      </p:sp>
      <p:sp>
        <p:nvSpPr>
          <p:cNvPr id="3" name="Shape 1"/>
          <p:cNvSpPr/>
          <p:nvPr/>
        </p:nvSpPr>
        <p:spPr>
          <a:xfrm>
            <a:off x="0" y="0"/>
            <a:ext cx="301752" cy="6858000"/>
          </a:xfrm>
          <a:prstGeom prst="rect">
            <a:avLst/>
          </a:prstGeom>
          <a:solidFill>
            <a:srgbClr val="1F4E79"/>
          </a:solidFill>
          <a:ln w="12700">
            <a:solidFill>
              <a:srgbClr val="1F4E79"/>
            </a:solidFill>
            <a:prstDash val="solid"/>
          </a:ln>
        </p:spPr>
      </p:sp>
      <p:sp>
        <p:nvSpPr>
          <p:cNvPr id="4" name="Text 2"/>
          <p:cNvSpPr/>
          <p:nvPr/>
        </p:nvSpPr>
        <p:spPr>
          <a:xfrm>
            <a:off x="640080" y="868680"/>
            <a:ext cx="5029200" cy="548640"/>
          </a:xfrm>
          <a:prstGeom prst="rect">
            <a:avLst/>
          </a:prstGeom>
          <a:noFill/>
          <a:ln/>
        </p:spPr>
        <p:txBody>
          <a:bodyPr wrap="square" lIns="0" tIns="0" rIns="0" bIns="0" rtlCol="0" anchor="ctr"/>
          <a:lstStyle/>
          <a:p>
            <a:pPr marL="0" indent="0">
              <a:buNone/>
            </a:pPr>
            <a:r>
              <a:rPr lang="en-US" sz="2400" b="1" dirty="0">
                <a:solidFill>
                  <a:srgbClr val="1F1F1F"/>
                </a:solidFill>
                <a:latin typeface="Aptos Display" pitchFamily="34" charset="0"/>
                <a:ea typeface="Aptos Display" pitchFamily="34" charset="-122"/>
                <a:cs typeface="Aptos Display" pitchFamily="34" charset="-120"/>
              </a:rPr>
              <a:t>Customer Purchase Behavior Analysis</a:t>
            </a:r>
            <a:endParaRPr lang="en-US" sz="2400" dirty="0"/>
          </a:p>
        </p:txBody>
      </p:sp>
      <p:sp>
        <p:nvSpPr>
          <p:cNvPr id="5" name="Text 3"/>
          <p:cNvSpPr/>
          <p:nvPr/>
        </p:nvSpPr>
        <p:spPr>
          <a:xfrm>
            <a:off x="640080" y="1481328"/>
            <a:ext cx="5394960" cy="502920"/>
          </a:xfrm>
          <a:prstGeom prst="rect">
            <a:avLst/>
          </a:prstGeom>
          <a:noFill/>
          <a:ln/>
        </p:spPr>
        <p:txBody>
          <a:bodyPr wrap="square" lIns="0" tIns="0" rIns="0" bIns="0" rtlCol="0" anchor="ctr"/>
          <a:lstStyle/>
          <a:p>
            <a:pPr marL="0" indent="0">
              <a:buNone/>
            </a:pPr>
            <a:r>
              <a:rPr lang="en-US" dirty="0">
                <a:solidFill>
                  <a:srgbClr val="1F4E79"/>
                </a:solidFill>
              </a:rPr>
              <a:t>Approach used: Exploratory Data Analysis and Visuals.</a:t>
            </a:r>
            <a:endParaRPr lang="en-US" dirty="0"/>
          </a:p>
        </p:txBody>
      </p:sp>
      <p:sp>
        <p:nvSpPr>
          <p:cNvPr id="6" name="Text 4"/>
          <p:cNvSpPr/>
          <p:nvPr/>
        </p:nvSpPr>
        <p:spPr>
          <a:xfrm>
            <a:off x="658368" y="2148840"/>
            <a:ext cx="2011680" cy="274320"/>
          </a:xfrm>
          <a:prstGeom prst="rect">
            <a:avLst/>
          </a:prstGeom>
          <a:noFill/>
          <a:ln/>
        </p:spPr>
        <p:txBody>
          <a:bodyPr wrap="square" lIns="0" tIns="0" rIns="0" bIns="0" rtlCol="0" anchor="ctr"/>
          <a:lstStyle/>
          <a:p>
            <a:pPr marL="0" indent="0">
              <a:buNone/>
            </a:pPr>
            <a:r>
              <a:rPr lang="en-US" sz="1350" dirty="0">
                <a:solidFill>
                  <a:srgbClr val="5B6573"/>
                </a:solidFill>
              </a:rPr>
              <a:t>Final Presentation</a:t>
            </a:r>
            <a:endParaRPr lang="en-US" sz="1350" dirty="0"/>
          </a:p>
        </p:txBody>
      </p:sp>
      <p:sp>
        <p:nvSpPr>
          <p:cNvPr id="7" name="Text 5"/>
          <p:cNvSpPr/>
          <p:nvPr/>
        </p:nvSpPr>
        <p:spPr>
          <a:xfrm>
            <a:off x="658368" y="2971800"/>
            <a:ext cx="3931920" cy="822960"/>
          </a:xfrm>
          <a:prstGeom prst="rect">
            <a:avLst/>
          </a:prstGeom>
          <a:noFill/>
          <a:ln/>
        </p:spPr>
        <p:txBody>
          <a:bodyPr wrap="square" lIns="0" tIns="0" rIns="0" bIns="0" rtlCol="0" anchor="ctr"/>
          <a:lstStyle/>
          <a:p>
            <a:pPr marL="0" indent="0">
              <a:buNone/>
            </a:pPr>
            <a:r>
              <a:rPr lang="en-US" sz="1500" dirty="0">
                <a:solidFill>
                  <a:srgbClr val="1F1F1F"/>
                </a:solidFill>
              </a:rPr>
              <a:t>Student Name: ____________________</a:t>
            </a:r>
            <a:endParaRPr lang="en-US" sz="1500" dirty="0"/>
          </a:p>
          <a:p>
            <a:pPr marL="0" indent="0">
              <a:buNone/>
            </a:pPr>
            <a:r>
              <a:rPr lang="en-US" sz="1500" dirty="0">
                <a:solidFill>
                  <a:srgbClr val="1F1F1F"/>
                </a:solidFill>
              </a:rPr>
              <a:t>Enrollment No.: ____________________</a:t>
            </a:r>
            <a:endParaRPr lang="en-US" sz="1500" dirty="0"/>
          </a:p>
          <a:p>
            <a:pPr marL="0" indent="0">
              <a:buNone/>
            </a:pPr>
            <a:r>
              <a:rPr lang="en-US" sz="1500" dirty="0">
                <a:solidFill>
                  <a:srgbClr val="1F1F1F"/>
                </a:solidFill>
              </a:rPr>
              <a:t>Guide/Mentor: ____________________</a:t>
            </a:r>
            <a:endParaRPr lang="en-US" sz="1500" dirty="0"/>
          </a:p>
        </p:txBody>
      </p:sp>
      <p:sp>
        <p:nvSpPr>
          <p:cNvPr id="8" name="Text 6"/>
          <p:cNvSpPr/>
          <p:nvPr/>
        </p:nvSpPr>
        <p:spPr>
          <a:xfrm>
            <a:off x="658368" y="4069080"/>
            <a:ext cx="4480560" cy="228600"/>
          </a:xfrm>
          <a:prstGeom prst="rect">
            <a:avLst/>
          </a:prstGeom>
          <a:noFill/>
          <a:ln/>
        </p:spPr>
        <p:txBody>
          <a:bodyPr wrap="square" lIns="0" tIns="0" rIns="0" bIns="0" rtlCol="0" anchor="ctr"/>
          <a:lstStyle/>
          <a:p>
            <a:pPr marL="0" indent="0">
              <a:buNone/>
            </a:pPr>
            <a:r>
              <a:rPr lang="en-US" sz="1250" dirty="0">
                <a:solidFill>
                  <a:srgbClr val="5B6573"/>
                </a:solidFill>
              </a:rPr>
              <a:t>Dataset: Shopping Trends Dataset (~3,900 records)</a:t>
            </a:r>
            <a:endParaRPr lang="en-US" sz="1250" dirty="0"/>
          </a:p>
        </p:txBody>
      </p:sp>
      <p:sp>
        <p:nvSpPr>
          <p:cNvPr id="9" name="Text 7"/>
          <p:cNvSpPr/>
          <p:nvPr/>
        </p:nvSpPr>
        <p:spPr>
          <a:xfrm>
            <a:off x="658368" y="4370832"/>
            <a:ext cx="4480560" cy="228600"/>
          </a:xfrm>
          <a:prstGeom prst="rect">
            <a:avLst/>
          </a:prstGeom>
          <a:noFill/>
          <a:ln/>
        </p:spPr>
        <p:txBody>
          <a:bodyPr wrap="square" lIns="0" tIns="0" rIns="0" bIns="0" rtlCol="0" anchor="ctr"/>
          <a:lstStyle/>
          <a:p>
            <a:pPr marL="0" indent="0">
              <a:buNone/>
            </a:pPr>
            <a:r>
              <a:rPr lang="en-US" sz="1250" dirty="0">
                <a:solidFill>
                  <a:srgbClr val="5B6573"/>
                </a:solidFill>
              </a:rPr>
              <a:t>Tools Used : Python, Pandas, NumPy, Matplotlib</a:t>
            </a:r>
            <a:endParaRPr lang="en-US" sz="1250" dirty="0"/>
          </a:p>
        </p:txBody>
      </p:sp>
      <p:pic>
        <p:nvPicPr>
          <p:cNvPr id="10" name="Image 0" descr="/mnt/data/customer_purchase_behavior_project/figures/dashboard_summary.png"/>
          <p:cNvPicPr>
            <a:picLocks noChangeAspect="1"/>
          </p:cNvPicPr>
          <p:nvPr/>
        </p:nvPicPr>
        <p:blipFill>
          <a:blip r:embed="rId3"/>
          <a:stretch>
            <a:fillRect/>
          </a:stretch>
        </p:blipFill>
        <p:spPr>
          <a:xfrm>
            <a:off x="6400800" y="1631646"/>
            <a:ext cx="5166360" cy="3457549"/>
          </a:xfrm>
          <a:prstGeom prst="rect">
            <a:avLst/>
          </a:prstGeom>
        </p:spPr>
      </p:pic>
      <p:sp>
        <p:nvSpPr>
          <p:cNvPr id="11" name="Shape 8"/>
          <p:cNvSpPr/>
          <p:nvPr/>
        </p:nvSpPr>
        <p:spPr>
          <a:xfrm>
            <a:off x="6199632" y="548640"/>
            <a:ext cx="5486400" cy="5577840"/>
          </a:xfrm>
          <a:prstGeom prst="roundRect">
            <a:avLst/>
          </a:prstGeom>
          <a:solidFill>
            <a:srgbClr val="FFFFFF">
              <a:alpha val="84000"/>
            </a:srgbClr>
          </a:solidFill>
          <a:ln w="12700">
            <a:solidFill>
              <a:srgbClr val="D4DFEE"/>
            </a:solidFill>
            <a:prstDash val="solid"/>
          </a:ln>
          <a:effectLst>
            <a:outerShdw blurRad="15240" dist="12700" dir="2700000" algn="bl" rotWithShape="0">
              <a:srgbClr val="000000">
                <a:alpha val="13000"/>
              </a:srgbClr>
            </a:outerShdw>
          </a:effectLst>
        </p:spPr>
      </p:sp>
      <p:sp>
        <p:nvSpPr>
          <p:cNvPr id="12" name="Text 9"/>
          <p:cNvSpPr/>
          <p:nvPr/>
        </p:nvSpPr>
        <p:spPr>
          <a:xfrm>
            <a:off x="6537960" y="6126480"/>
            <a:ext cx="4800600" cy="228600"/>
          </a:xfrm>
          <a:prstGeom prst="rect">
            <a:avLst/>
          </a:prstGeom>
          <a:noFill/>
          <a:ln/>
        </p:spPr>
        <p:txBody>
          <a:bodyPr wrap="square" lIns="0" tIns="0" rIns="0" bIns="0" rtlCol="0" anchor="ctr"/>
          <a:lstStyle/>
          <a:p>
            <a:pPr marL="0" indent="0" algn="ctr">
              <a:buNone/>
            </a:pPr>
            <a:r>
              <a:rPr lang="en-US" sz="1150" dirty="0">
                <a:solidFill>
                  <a:srgbClr val="5B6573"/>
                </a:solidFill>
              </a:rPr>
              <a:t>EDA report + GitHub-ready project files</a:t>
            </a:r>
            <a:endParaRPr lang="en-US" sz="1150" dirty="0"/>
          </a:p>
        </p:txBody>
      </p:sp>
      <p:sp>
        <p:nvSpPr>
          <p:cNvPr id="13" name="Text 10"/>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Project Objective and Data Overview</a:t>
            </a:r>
            <a:endParaRPr lang="en-US" sz="2800" dirty="0"/>
          </a:p>
        </p:txBody>
      </p:sp>
      <p:sp>
        <p:nvSpPr>
          <p:cNvPr id="5" name="Text 3"/>
          <p:cNvSpPr/>
          <p:nvPr/>
        </p:nvSpPr>
        <p:spPr>
          <a:xfrm>
            <a:off x="534645" y="1097280"/>
            <a:ext cx="5623560" cy="1051560"/>
          </a:xfrm>
          <a:prstGeom prst="rect">
            <a:avLst/>
          </a:prstGeom>
          <a:noFill/>
          <a:ln/>
        </p:spPr>
        <p:txBody>
          <a:bodyPr wrap="square" lIns="635" tIns="635" rIns="635" bIns="635" rtlCol="0" anchor="ctr"/>
          <a:lstStyle/>
          <a:p>
            <a:r>
              <a:rPr lang="en-US" sz="1600" dirty="0"/>
              <a:t>This project sought to comprehend the impact of various parameters such as customer demographics, type of products purchased, seasons, and means of payment on spending by customers. The main objective is the analysis of the data provided in order to derive valuable insights..</a:t>
            </a:r>
          </a:p>
        </p:txBody>
      </p:sp>
      <p:sp>
        <p:nvSpPr>
          <p:cNvPr id="6" name="Text 4"/>
          <p:cNvSpPr/>
          <p:nvPr/>
        </p:nvSpPr>
        <p:spPr>
          <a:xfrm>
            <a:off x="566928" y="2514600"/>
            <a:ext cx="1828800" cy="228600"/>
          </a:xfrm>
          <a:prstGeom prst="rect">
            <a:avLst/>
          </a:prstGeom>
          <a:noFill/>
          <a:ln/>
        </p:spPr>
        <p:txBody>
          <a:bodyPr wrap="square" lIns="0" tIns="0" rIns="0" bIns="0" rtlCol="0" anchor="ctr"/>
          <a:lstStyle/>
          <a:p>
            <a:pPr marL="0" indent="0">
              <a:buNone/>
            </a:pPr>
            <a:r>
              <a:rPr lang="en-US" sz="1800" b="1" dirty="0">
                <a:solidFill>
                  <a:srgbClr val="1F4E79"/>
                </a:solidFill>
              </a:rPr>
              <a:t>Main questions</a:t>
            </a:r>
            <a:endParaRPr lang="en-US" sz="1800" dirty="0"/>
          </a:p>
        </p:txBody>
      </p:sp>
      <p:sp>
        <p:nvSpPr>
          <p:cNvPr id="7" name="Text 5"/>
          <p:cNvSpPr/>
          <p:nvPr/>
        </p:nvSpPr>
        <p:spPr>
          <a:xfrm>
            <a:off x="658368" y="2880360"/>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Which product categories are most popular?</a:t>
            </a:r>
            <a:endParaRPr lang="en-US" sz="1700" dirty="0"/>
          </a:p>
        </p:txBody>
      </p:sp>
      <p:sp>
        <p:nvSpPr>
          <p:cNvPr id="8" name="Text 6"/>
          <p:cNvSpPr/>
          <p:nvPr/>
        </p:nvSpPr>
        <p:spPr>
          <a:xfrm>
            <a:off x="658368" y="3264408"/>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solidFill>
                  <a:srgbClr val="1F1F1F"/>
                </a:solidFill>
              </a:rPr>
              <a:t>Does spending change across seasons</a:t>
            </a:r>
            <a:r>
              <a:rPr lang="en-US" sz="1700" dirty="0">
                <a:solidFill>
                  <a:srgbClr val="1F1F1F"/>
                </a:solidFill>
              </a:rPr>
              <a:t>? </a:t>
            </a:r>
            <a:endParaRPr lang="en-US" sz="1700" dirty="0"/>
          </a:p>
        </p:txBody>
      </p:sp>
      <p:sp>
        <p:nvSpPr>
          <p:cNvPr id="9" name="Text 7"/>
          <p:cNvSpPr/>
          <p:nvPr/>
        </p:nvSpPr>
        <p:spPr>
          <a:xfrm>
            <a:off x="658368" y="3648456"/>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Which payment methods are commonly used</a:t>
            </a:r>
            <a:r>
              <a:rPr lang="en-US" sz="1700" dirty="0">
                <a:solidFill>
                  <a:srgbClr val="1F1F1F"/>
                </a:solidFill>
              </a:rPr>
              <a:t>?</a:t>
            </a:r>
            <a:endParaRPr lang="en-US" sz="1700" dirty="0"/>
          </a:p>
        </p:txBody>
      </p:sp>
      <p:sp>
        <p:nvSpPr>
          <p:cNvPr id="10" name="Text 8"/>
          <p:cNvSpPr/>
          <p:nvPr/>
        </p:nvSpPr>
        <p:spPr>
          <a:xfrm>
            <a:off x="658368" y="4032504"/>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Can we divide customers into meaningful groups</a:t>
            </a:r>
            <a:r>
              <a:rPr lang="en-US" sz="1600" dirty="0">
                <a:solidFill>
                  <a:srgbClr val="1F1F1F"/>
                </a:solidFill>
              </a:rPr>
              <a:t>?</a:t>
            </a:r>
            <a:endParaRPr lang="en-US" sz="1700" dirty="0"/>
          </a:p>
        </p:txBody>
      </p:sp>
      <p:sp>
        <p:nvSpPr>
          <p:cNvPr id="11" name="Text 9"/>
          <p:cNvSpPr/>
          <p:nvPr/>
        </p:nvSpPr>
        <p:spPr>
          <a:xfrm>
            <a:off x="6629400" y="137160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chemeClr val="accent5">
                    <a:lumMod val="50000"/>
                  </a:schemeClr>
                </a:solidFill>
              </a:rPr>
              <a:t>Around 3,900 customer records</a:t>
            </a:r>
          </a:p>
        </p:txBody>
      </p:sp>
      <p:sp>
        <p:nvSpPr>
          <p:cNvPr id="12" name="Text 10"/>
          <p:cNvSpPr/>
          <p:nvPr/>
        </p:nvSpPr>
        <p:spPr>
          <a:xfrm>
            <a:off x="9144000" y="137160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rgbClr val="1F4E79"/>
                </a:solidFill>
              </a:rPr>
              <a:t>18 Features</a:t>
            </a:r>
            <a:endParaRPr lang="en-US" sz="2000" dirty="0"/>
          </a:p>
        </p:txBody>
      </p:sp>
      <p:sp>
        <p:nvSpPr>
          <p:cNvPr id="13" name="Text 11"/>
          <p:cNvSpPr/>
          <p:nvPr/>
        </p:nvSpPr>
        <p:spPr>
          <a:xfrm>
            <a:off x="8001000" y="265176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rgbClr val="2F7D57"/>
                </a:solidFill>
              </a:rPr>
              <a:t>No missing values or duplicate rows</a:t>
            </a:r>
            <a:endParaRPr lang="en-US" sz="2000" dirty="0"/>
          </a:p>
        </p:txBody>
      </p:sp>
      <p:sp>
        <p:nvSpPr>
          <p:cNvPr id="15" name="Text 13"/>
          <p:cNvSpPr/>
          <p:nvPr/>
        </p:nvSpPr>
        <p:spPr>
          <a:xfrm>
            <a:off x="6629400" y="4005072"/>
            <a:ext cx="4572000" cy="1481328"/>
          </a:xfrm>
          <a:prstGeom prst="roundRect">
            <a:avLst/>
          </a:prstGeom>
          <a:solidFill>
            <a:srgbClr val="EAF2FF"/>
          </a:solidFill>
          <a:ln>
            <a:solidFill>
              <a:srgbClr val="D4DFEE"/>
            </a:solidFill>
          </a:ln>
        </p:spPr>
        <p:txBody>
          <a:bodyPr wrap="square" lIns="1016" tIns="1016" rIns="1016" bIns="1016" rtlCol="0" anchor="ctr"/>
          <a:lstStyle/>
          <a:p>
            <a:pPr marL="0" indent="0">
              <a:buNone/>
            </a:pPr>
            <a:r>
              <a:rPr lang="en-US" sz="1600" dirty="0"/>
              <a:t>Even though the data is clean, I did some basic validation and preprocessing just to be sure. Given that the data isn’t chronological and rather snapshot-like, I utilized estimates such as purchase period and CLV.</a:t>
            </a:r>
            <a:endParaRPr lang="en-US" sz="1550" dirty="0"/>
          </a:p>
        </p:txBody>
      </p:sp>
      <p:sp>
        <p:nvSpPr>
          <p:cNvPr id="16" name="Text 14"/>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Methods and Feature Engineering</a:t>
            </a:r>
            <a:endParaRPr lang="en-US" sz="2800" dirty="0"/>
          </a:p>
        </p:txBody>
      </p:sp>
      <p:sp>
        <p:nvSpPr>
          <p:cNvPr id="5" name="Text 3"/>
          <p:cNvSpPr/>
          <p:nvPr/>
        </p:nvSpPr>
        <p:spPr>
          <a:xfrm>
            <a:off x="685800" y="1088136"/>
            <a:ext cx="1417320" cy="731520"/>
          </a:xfrm>
          <a:prstGeom prst="roundRect">
            <a:avLst/>
          </a:prstGeom>
          <a:solidFill>
            <a:srgbClr val="EAF2FF"/>
          </a:solidFill>
          <a:ln>
            <a:solidFill>
              <a:srgbClr val="4F81BD"/>
            </a:solidFill>
          </a:ln>
        </p:spPr>
        <p:txBody>
          <a:bodyPr wrap="square" lIns="508" tIns="508" rIns="508" bIns="508" rtlCol="0" anchor="ctr"/>
          <a:lstStyle/>
          <a:p>
            <a:pPr marL="0" indent="0" algn="ctr">
              <a:buNone/>
            </a:pPr>
            <a:r>
              <a:rPr lang="en-US" sz="1450" dirty="0">
                <a:solidFill>
                  <a:srgbClr val="1F1F1F"/>
                </a:solidFill>
              </a:rPr>
              <a:t>Data understanding</a:t>
            </a:r>
            <a:endParaRPr lang="en-US" sz="1450" dirty="0"/>
          </a:p>
        </p:txBody>
      </p:sp>
      <p:sp>
        <p:nvSpPr>
          <p:cNvPr id="6" name="Text 4"/>
          <p:cNvSpPr/>
          <p:nvPr/>
        </p:nvSpPr>
        <p:spPr>
          <a:xfrm>
            <a:off x="2302795" y="1121913"/>
            <a:ext cx="1417320" cy="731520"/>
          </a:xfrm>
          <a:prstGeom prst="roundRect">
            <a:avLst/>
          </a:prstGeom>
          <a:solidFill>
            <a:srgbClr val="EAF2FF"/>
          </a:solidFill>
          <a:ln>
            <a:solidFill>
              <a:srgbClr val="4F81BD"/>
            </a:solidFill>
          </a:ln>
        </p:spPr>
        <p:txBody>
          <a:bodyPr wrap="square" lIns="508" tIns="508" rIns="508" bIns="508" rtlCol="0" anchor="ctr"/>
          <a:lstStyle/>
          <a:p>
            <a:pPr marL="0" indent="0" algn="ctr">
              <a:buNone/>
            </a:pPr>
            <a:r>
              <a:rPr lang="en-US" sz="1450" dirty="0">
                <a:solidFill>
                  <a:srgbClr val="1F1F1F"/>
                </a:solidFill>
              </a:rPr>
              <a:t>Data cleaning and checking</a:t>
            </a:r>
            <a:endParaRPr lang="en-US" sz="1450" dirty="0"/>
          </a:p>
        </p:txBody>
      </p:sp>
      <p:sp>
        <p:nvSpPr>
          <p:cNvPr id="7" name="Text 5"/>
          <p:cNvSpPr/>
          <p:nvPr/>
        </p:nvSpPr>
        <p:spPr>
          <a:xfrm>
            <a:off x="3919790" y="1121913"/>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Exploratory data analysis</a:t>
            </a:r>
            <a:endParaRPr lang="en-US" sz="1450" dirty="0"/>
          </a:p>
        </p:txBody>
      </p:sp>
      <p:sp>
        <p:nvSpPr>
          <p:cNvPr id="8" name="Text 6"/>
          <p:cNvSpPr/>
          <p:nvPr/>
        </p:nvSpPr>
        <p:spPr>
          <a:xfrm>
            <a:off x="5623560" y="1121913"/>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Feature creation</a:t>
            </a:r>
            <a:endParaRPr lang="en-US" sz="1450" dirty="0"/>
          </a:p>
        </p:txBody>
      </p:sp>
      <p:sp>
        <p:nvSpPr>
          <p:cNvPr id="9" name="Text 7"/>
          <p:cNvSpPr/>
          <p:nvPr/>
        </p:nvSpPr>
        <p:spPr>
          <a:xfrm>
            <a:off x="7248952" y="1143654"/>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Visualization</a:t>
            </a:r>
            <a:endParaRPr lang="en-US" sz="1450" dirty="0"/>
          </a:p>
        </p:txBody>
      </p:sp>
      <p:sp>
        <p:nvSpPr>
          <p:cNvPr id="10" name="Text 8"/>
          <p:cNvSpPr/>
          <p:nvPr/>
        </p:nvSpPr>
        <p:spPr>
          <a:xfrm>
            <a:off x="8865947" y="1143654"/>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Insights and conclusions</a:t>
            </a:r>
            <a:endParaRPr lang="en-US" sz="1450" dirty="0"/>
          </a:p>
        </p:txBody>
      </p:sp>
      <p:sp>
        <p:nvSpPr>
          <p:cNvPr id="12" name="Text 10"/>
          <p:cNvSpPr/>
          <p:nvPr/>
        </p:nvSpPr>
        <p:spPr>
          <a:xfrm>
            <a:off x="731520" y="2743200"/>
            <a:ext cx="3474720" cy="228600"/>
          </a:xfrm>
          <a:prstGeom prst="rect">
            <a:avLst/>
          </a:prstGeom>
          <a:noFill/>
          <a:ln/>
        </p:spPr>
        <p:txBody>
          <a:bodyPr wrap="square" lIns="0" tIns="0" rIns="0" bIns="0" rtlCol="0" anchor="ctr"/>
          <a:lstStyle/>
          <a:p>
            <a:pPr marL="0" indent="0">
              <a:buNone/>
            </a:pPr>
            <a:r>
              <a:rPr lang="en-US" sz="1800" b="1" dirty="0">
                <a:solidFill>
                  <a:srgbClr val="1F4E79"/>
                </a:solidFill>
              </a:rPr>
              <a:t>Derived fields used in the project</a:t>
            </a:r>
            <a:endParaRPr lang="en-US" sz="1800" dirty="0"/>
          </a:p>
        </p:txBody>
      </p:sp>
      <p:sp>
        <p:nvSpPr>
          <p:cNvPr id="13" name="Text 11"/>
          <p:cNvSpPr/>
          <p:nvPr/>
        </p:nvSpPr>
        <p:spPr>
          <a:xfrm>
            <a:off x="868680" y="3063240"/>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Estimated purchases per year</a:t>
            </a:r>
            <a:endParaRPr lang="en-US" sz="1650" dirty="0"/>
          </a:p>
        </p:txBody>
      </p:sp>
      <p:sp>
        <p:nvSpPr>
          <p:cNvPr id="14" name="Text 12"/>
          <p:cNvSpPr/>
          <p:nvPr/>
        </p:nvSpPr>
        <p:spPr>
          <a:xfrm>
            <a:off x="868680" y="3410712"/>
            <a:ext cx="4251960" cy="274320"/>
          </a:xfrm>
          <a:prstGeom prst="rect">
            <a:avLst/>
          </a:prstGeom>
          <a:noFill/>
          <a:ln/>
        </p:spPr>
        <p:txBody>
          <a:bodyPr wrap="square" lIns="0" tIns="0" rIns="0" bIns="0" rtlCol="0" anchor="ctr"/>
          <a:lstStyle/>
          <a:p>
            <a:pPr marL="0" indent="0">
              <a:buNone/>
            </a:pPr>
            <a:r>
              <a:rPr lang="en-US" sz="1650" dirty="0">
                <a:solidFill>
                  <a:srgbClr val="1F1F1F"/>
                </a:solidFill>
              </a:rPr>
              <a:t>• P</a:t>
            </a:r>
            <a:r>
              <a:rPr lang="en-IN" sz="1600" dirty="0" err="1"/>
              <a:t>urchase</a:t>
            </a:r>
            <a:r>
              <a:rPr lang="en-IN" sz="1600" dirty="0"/>
              <a:t> interval (in days)</a:t>
            </a:r>
            <a:endParaRPr lang="en-US" sz="1650" dirty="0"/>
          </a:p>
        </p:txBody>
      </p:sp>
      <p:sp>
        <p:nvSpPr>
          <p:cNvPr id="15" name="Text 13"/>
          <p:cNvSpPr/>
          <p:nvPr/>
        </p:nvSpPr>
        <p:spPr>
          <a:xfrm>
            <a:off x="868680" y="3758184"/>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Annual spending estimate</a:t>
            </a:r>
            <a:endParaRPr lang="en-US" sz="1650" dirty="0"/>
          </a:p>
        </p:txBody>
      </p:sp>
      <p:sp>
        <p:nvSpPr>
          <p:cNvPr id="16" name="Text 14"/>
          <p:cNvSpPr/>
          <p:nvPr/>
        </p:nvSpPr>
        <p:spPr>
          <a:xfrm>
            <a:off x="868680" y="4105656"/>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Approximate 3-year CLV</a:t>
            </a:r>
            <a:endParaRPr lang="en-US" sz="1650" dirty="0"/>
          </a:p>
        </p:txBody>
      </p:sp>
      <p:sp>
        <p:nvSpPr>
          <p:cNvPr id="17" name="Text 15"/>
          <p:cNvSpPr/>
          <p:nvPr/>
        </p:nvSpPr>
        <p:spPr>
          <a:xfrm>
            <a:off x="868680" y="4453128"/>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US" sz="1600" dirty="0"/>
              <a:t>Customer segments based on rules</a:t>
            </a:r>
            <a:endParaRPr lang="en-US" sz="1650" dirty="0"/>
          </a:p>
        </p:txBody>
      </p:sp>
      <p:sp>
        <p:nvSpPr>
          <p:cNvPr id="18" name="Text 16"/>
          <p:cNvSpPr/>
          <p:nvPr/>
        </p:nvSpPr>
        <p:spPr>
          <a:xfrm>
            <a:off x="5760720" y="2697480"/>
            <a:ext cx="5486400" cy="2423160"/>
          </a:xfrm>
          <a:prstGeom prst="roundRect">
            <a:avLst/>
          </a:prstGeom>
          <a:solidFill>
            <a:srgbClr val="F5F8FC"/>
          </a:solidFill>
          <a:ln>
            <a:solidFill>
              <a:srgbClr val="D4DFEE"/>
            </a:solidFill>
          </a:ln>
        </p:spPr>
        <p:txBody>
          <a:bodyPr wrap="square" lIns="1016" tIns="1016" rIns="1016" bIns="1016" rtlCol="0" anchor="ctr"/>
          <a:lstStyle/>
          <a:p>
            <a:pPr marL="0" indent="0">
              <a:buNone/>
            </a:pPr>
            <a:r>
              <a:rPr lang="en-US" sz="1640" b="1" dirty="0">
                <a:solidFill>
                  <a:schemeClr val="accent5">
                    <a:lumMod val="75000"/>
                  </a:schemeClr>
                </a:solidFill>
              </a:rPr>
              <a:t>Note: -</a:t>
            </a:r>
            <a:endParaRPr lang="en-US" sz="1640" dirty="0"/>
          </a:p>
          <a:p>
            <a:pPr marL="0" indent="0">
              <a:buNone/>
            </a:pPr>
            <a:r>
              <a:rPr lang="en-US" sz="1600" dirty="0"/>
              <a:t>Because there are no timestamps in the dataset, these numbers are approximations. I have made this clear because of the risk of making too much of the data.</a:t>
            </a:r>
            <a:endParaRPr lang="en-US" sz="1640" dirty="0"/>
          </a:p>
        </p:txBody>
      </p:sp>
      <p:sp>
        <p:nvSpPr>
          <p:cNvPr id="19" name="Text 17"/>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Product Mix and Purchase Behavior</a:t>
            </a:r>
            <a:endParaRPr lang="en-US" sz="2800" dirty="0"/>
          </a:p>
        </p:txBody>
      </p:sp>
      <p:pic>
        <p:nvPicPr>
          <p:cNvPr id="5" name="Image 0" descr="/mnt/data/customer_purchase_behavior_project/figures/top_items_bar.png"/>
          <p:cNvPicPr>
            <a:picLocks noChangeAspect="1"/>
          </p:cNvPicPr>
          <p:nvPr/>
        </p:nvPicPr>
        <p:blipFill>
          <a:blip r:embed="rId3"/>
          <a:stretch>
            <a:fillRect/>
          </a:stretch>
        </p:blipFill>
        <p:spPr>
          <a:xfrm>
            <a:off x="658368" y="1499473"/>
            <a:ext cx="5806440" cy="3447574"/>
          </a:xfrm>
          <a:prstGeom prst="rect">
            <a:avLst/>
          </a:prstGeom>
        </p:spPr>
      </p:pic>
      <p:pic>
        <p:nvPicPr>
          <p:cNvPr id="6" name="Image 1" descr="/mnt/data/customer_purchase_behavior_project/figures/category_share_pie.png"/>
          <p:cNvPicPr>
            <a:picLocks noChangeAspect="1"/>
          </p:cNvPicPr>
          <p:nvPr/>
        </p:nvPicPr>
        <p:blipFill>
          <a:blip r:embed="rId4"/>
          <a:stretch>
            <a:fillRect/>
          </a:stretch>
        </p:blipFill>
        <p:spPr>
          <a:xfrm>
            <a:off x="7377658" y="1325880"/>
            <a:ext cx="3349804" cy="3383280"/>
          </a:xfrm>
          <a:prstGeom prst="rect">
            <a:avLst/>
          </a:prstGeom>
        </p:spPr>
      </p:pic>
      <p:sp>
        <p:nvSpPr>
          <p:cNvPr id="7" name="Shape 3"/>
          <p:cNvSpPr/>
          <p:nvPr/>
        </p:nvSpPr>
        <p:spPr>
          <a:xfrm>
            <a:off x="6812280" y="4892039"/>
            <a:ext cx="4480560" cy="1452775"/>
          </a:xfrm>
          <a:prstGeom prst="roundRect">
            <a:avLst/>
          </a:prstGeom>
          <a:solidFill>
            <a:srgbClr val="EAF2FF"/>
          </a:solidFill>
          <a:ln w="12700">
            <a:solidFill>
              <a:srgbClr val="D4DFEE"/>
            </a:solidFill>
            <a:prstDash val="solid"/>
          </a:ln>
        </p:spPr>
        <p:txBody>
          <a:bodyPr/>
          <a:lstStyle/>
          <a:p>
            <a:pPr marL="285750" indent="-285750">
              <a:buFont typeface="Arial" panose="020B0604020202020204" pitchFamily="34" charset="0"/>
              <a:buChar char="•"/>
            </a:pPr>
            <a:r>
              <a:rPr lang="en-US" sz="1400" dirty="0"/>
              <a:t>The main category includes clothing(44.5%)</a:t>
            </a:r>
          </a:p>
          <a:p>
            <a:pPr marL="285750" indent="-285750">
              <a:buFont typeface="Arial" panose="020B0604020202020204" pitchFamily="34" charset="0"/>
              <a:buChar char="•"/>
            </a:pPr>
            <a:r>
              <a:rPr lang="en-US" sz="1400" dirty="0"/>
              <a:t>Then, Accessories follow(31.8%)</a:t>
            </a:r>
          </a:p>
          <a:p>
            <a:pPr marL="285750" indent="-285750">
              <a:buFont typeface="Arial" panose="020B0604020202020204" pitchFamily="34" charset="0"/>
              <a:buChar char="•"/>
            </a:pPr>
            <a:r>
              <a:rPr lang="en-US" sz="1400" dirty="0"/>
              <a:t>Popular products:</a:t>
            </a:r>
            <a:endParaRPr lang="en-IN" sz="1400" dirty="0"/>
          </a:p>
          <a:p>
            <a:pPr marL="742950" lvl="1" indent="-285750">
              <a:buFont typeface="Arial" panose="020B0604020202020204" pitchFamily="34" charset="0"/>
              <a:buChar char="•"/>
            </a:pPr>
            <a:r>
              <a:rPr lang="en-IN" sz="1400" dirty="0"/>
              <a:t>Pants</a:t>
            </a:r>
          </a:p>
          <a:p>
            <a:pPr marL="742950" lvl="1" indent="-285750">
              <a:buFont typeface="Arial" panose="020B0604020202020204" pitchFamily="34" charset="0"/>
              <a:buChar char="•"/>
            </a:pPr>
            <a:r>
              <a:rPr lang="en-IN" sz="1400" dirty="0" err="1"/>
              <a:t>Jewelry</a:t>
            </a:r>
            <a:endParaRPr lang="en-IN" sz="1400" dirty="0"/>
          </a:p>
          <a:p>
            <a:pPr marL="742950" lvl="1" indent="-285750">
              <a:buFont typeface="Arial" panose="020B0604020202020204" pitchFamily="34" charset="0"/>
              <a:buChar char="•"/>
            </a:pPr>
            <a:r>
              <a:rPr lang="en-IN" sz="1400" dirty="0"/>
              <a:t>Blouse</a:t>
            </a:r>
          </a:p>
        </p:txBody>
      </p:sp>
      <p:sp>
        <p:nvSpPr>
          <p:cNvPr id="8" name="Text 4"/>
          <p:cNvSpPr/>
          <p:nvPr/>
        </p:nvSpPr>
        <p:spPr>
          <a:xfrm>
            <a:off x="7059168" y="5120640"/>
            <a:ext cx="3977640" cy="685800"/>
          </a:xfrm>
          <a:prstGeom prst="rect">
            <a:avLst/>
          </a:prstGeom>
          <a:noFill/>
          <a:ln/>
        </p:spPr>
        <p:txBody>
          <a:bodyPr wrap="square" lIns="635" tIns="635" rIns="635" bIns="635" rtlCol="0" anchor="ctr"/>
          <a:lstStyle/>
          <a:p>
            <a:pPr marL="0" indent="0">
              <a:buNone/>
            </a:pPr>
            <a:r>
              <a:rPr lang="en-US" sz="1600" dirty="0">
                <a:solidFill>
                  <a:srgbClr val="1F1F1F"/>
                </a:solidFill>
              </a:rPr>
              <a:t> </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Seasonal trends</a:t>
            </a:r>
            <a:endParaRPr lang="en-US" sz="2800" dirty="0"/>
          </a:p>
        </p:txBody>
      </p:sp>
      <p:pic>
        <p:nvPicPr>
          <p:cNvPr id="5" name="Image 0" descr="/mnt/data/customer_purchase_behavior_project/figures/seasonal_spend_line.png"/>
          <p:cNvPicPr>
            <a:picLocks noChangeAspect="1"/>
          </p:cNvPicPr>
          <p:nvPr/>
        </p:nvPicPr>
        <p:blipFill>
          <a:blip r:embed="rId3"/>
          <a:stretch>
            <a:fillRect/>
          </a:stretch>
        </p:blipFill>
        <p:spPr>
          <a:xfrm>
            <a:off x="1098896" y="1188720"/>
            <a:ext cx="4239584" cy="2468880"/>
          </a:xfrm>
          <a:prstGeom prst="rect">
            <a:avLst/>
          </a:prstGeom>
        </p:spPr>
      </p:pic>
      <p:pic>
        <p:nvPicPr>
          <p:cNvPr id="6" name="Image 1" descr="/mnt/data/customer_purchase_behavior_project/figures/category_season_heatmap.png"/>
          <p:cNvPicPr>
            <a:picLocks noChangeAspect="1"/>
          </p:cNvPicPr>
          <p:nvPr/>
        </p:nvPicPr>
        <p:blipFill>
          <a:blip r:embed="rId4"/>
          <a:stretch>
            <a:fillRect/>
          </a:stretch>
        </p:blipFill>
        <p:spPr>
          <a:xfrm>
            <a:off x="1552669" y="3703320"/>
            <a:ext cx="3332038" cy="2240280"/>
          </a:xfrm>
          <a:prstGeom prst="rect">
            <a:avLst/>
          </a:prstGeom>
        </p:spPr>
      </p:pic>
      <p:sp>
        <p:nvSpPr>
          <p:cNvPr id="7" name="Shape 3"/>
          <p:cNvSpPr/>
          <p:nvPr/>
        </p:nvSpPr>
        <p:spPr>
          <a:xfrm>
            <a:off x="6062472" y="1179039"/>
            <a:ext cx="5321808" cy="4663440"/>
          </a:xfrm>
          <a:prstGeom prst="roundRect">
            <a:avLst/>
          </a:prstGeom>
          <a:solidFill>
            <a:srgbClr val="F5F8FC"/>
          </a:solidFill>
          <a:ln w="12700">
            <a:solidFill>
              <a:srgbClr val="D4DFEE"/>
            </a:solidFill>
            <a:prstDash val="solid"/>
          </a:ln>
        </p:spPr>
      </p:sp>
      <p:sp>
        <p:nvSpPr>
          <p:cNvPr id="8" name="Text 4"/>
          <p:cNvSpPr/>
          <p:nvPr/>
        </p:nvSpPr>
        <p:spPr>
          <a:xfrm>
            <a:off x="6492240" y="1408176"/>
            <a:ext cx="4789840" cy="393192"/>
          </a:xfrm>
          <a:prstGeom prst="rect">
            <a:avLst/>
          </a:prstGeom>
          <a:noFill/>
          <a:ln/>
        </p:spPr>
        <p:txBody>
          <a:bodyPr wrap="square" lIns="0" tIns="0" rIns="0" bIns="0" rtlCol="0" anchor="ctr"/>
          <a:lstStyle/>
          <a:p>
            <a:pPr marL="0" indent="0">
              <a:buNone/>
            </a:pPr>
            <a:r>
              <a:rPr lang="en-US" sz="1400" b="1" u="sng" dirty="0">
                <a:solidFill>
                  <a:schemeClr val="accent5">
                    <a:lumMod val="75000"/>
                  </a:schemeClr>
                </a:solidFill>
              </a:rPr>
              <a:t>Observations</a:t>
            </a:r>
          </a:p>
        </p:txBody>
      </p:sp>
      <p:sp>
        <p:nvSpPr>
          <p:cNvPr id="9" name="Text 5"/>
          <p:cNvSpPr/>
          <p:nvPr/>
        </p:nvSpPr>
        <p:spPr>
          <a:xfrm>
            <a:off x="6492240" y="1965960"/>
            <a:ext cx="4617720" cy="270028"/>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Fall season registers the highest spending</a:t>
            </a:r>
            <a:r>
              <a:rPr lang="en-US" sz="1700" dirty="0">
                <a:solidFill>
                  <a:srgbClr val="1F1F1F"/>
                </a:solidFill>
              </a:rPr>
              <a:t>.</a:t>
            </a:r>
            <a:endParaRPr lang="en-US" sz="1700" dirty="0"/>
          </a:p>
        </p:txBody>
      </p:sp>
      <p:sp>
        <p:nvSpPr>
          <p:cNvPr id="10" name="Text 6"/>
          <p:cNvSpPr/>
          <p:nvPr/>
        </p:nvSpPr>
        <p:spPr>
          <a:xfrm>
            <a:off x="6503967" y="2370675"/>
            <a:ext cx="4617720" cy="270028"/>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Spring and Summer seasons are very close</a:t>
            </a:r>
            <a:r>
              <a:rPr lang="en-US" sz="1700" dirty="0">
                <a:solidFill>
                  <a:srgbClr val="1F1F1F"/>
                </a:solidFill>
              </a:rPr>
              <a:t>.</a:t>
            </a:r>
            <a:endParaRPr lang="en-US" sz="1700" dirty="0"/>
          </a:p>
        </p:txBody>
      </p:sp>
      <p:sp>
        <p:nvSpPr>
          <p:cNvPr id="11" name="Text 7"/>
          <p:cNvSpPr/>
          <p:nvPr/>
        </p:nvSpPr>
        <p:spPr>
          <a:xfrm>
            <a:off x="6475384" y="2690995"/>
            <a:ext cx="4617720" cy="411480"/>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Increase in sales of Footwears in Fall season</a:t>
            </a:r>
            <a:r>
              <a:rPr lang="en-US" sz="1700" dirty="0">
                <a:solidFill>
                  <a:srgbClr val="1F1F1F"/>
                </a:solidFill>
              </a:rPr>
              <a:t>.</a:t>
            </a:r>
            <a:endParaRPr lang="en-US" sz="1700" dirty="0"/>
          </a:p>
        </p:txBody>
      </p:sp>
      <p:sp>
        <p:nvSpPr>
          <p:cNvPr id="12" name="Text 8"/>
          <p:cNvSpPr/>
          <p:nvPr/>
        </p:nvSpPr>
        <p:spPr>
          <a:xfrm>
            <a:off x="6503967" y="3065899"/>
            <a:ext cx="4617720" cy="411480"/>
          </a:xfrm>
          <a:prstGeom prst="rect">
            <a:avLst/>
          </a:prstGeom>
          <a:noFill/>
          <a:ln/>
        </p:spPr>
        <p:txBody>
          <a:bodyPr wrap="square" lIns="0" tIns="0" rIns="0" bIns="0" rtlCol="0" anchor="ctr"/>
          <a:lstStyle/>
          <a:p>
            <a:pPr marL="0" indent="0">
              <a:buNone/>
            </a:pPr>
            <a:r>
              <a:rPr lang="en-US" sz="1700" dirty="0">
                <a:solidFill>
                  <a:srgbClr val="1F1F1F"/>
                </a:solidFill>
              </a:rPr>
              <a:t>• </a:t>
            </a:r>
            <a:r>
              <a:rPr lang="en-IN" sz="1600" dirty="0"/>
              <a:t>Disengaged Customers</a:t>
            </a:r>
            <a:r>
              <a:rPr lang="en-US" sz="1700" dirty="0">
                <a:solidFill>
                  <a:srgbClr val="1F1F1F"/>
                </a:solidFill>
              </a:rPr>
              <a:t>.</a:t>
            </a:r>
            <a:endParaRPr lang="en-US" sz="1700" dirty="0"/>
          </a:p>
        </p:txBody>
      </p:sp>
      <p:sp>
        <p:nvSpPr>
          <p:cNvPr id="13" name="Shape 9"/>
          <p:cNvSpPr/>
          <p:nvPr/>
        </p:nvSpPr>
        <p:spPr>
          <a:xfrm>
            <a:off x="6492240" y="4800600"/>
            <a:ext cx="4617720" cy="713232"/>
          </a:xfrm>
          <a:prstGeom prst="roundRect">
            <a:avLst/>
          </a:prstGeom>
          <a:solidFill>
            <a:srgbClr val="FFFFFF"/>
          </a:solidFill>
          <a:ln w="12700">
            <a:solidFill>
              <a:srgbClr val="4F81BD"/>
            </a:solidFill>
            <a:prstDash val="solid"/>
          </a:ln>
        </p:spPr>
      </p:sp>
      <p:sp>
        <p:nvSpPr>
          <p:cNvPr id="14" name="Text 10"/>
          <p:cNvSpPr/>
          <p:nvPr/>
        </p:nvSpPr>
        <p:spPr>
          <a:xfrm>
            <a:off x="6720840" y="5029200"/>
            <a:ext cx="4160520" cy="201168"/>
          </a:xfrm>
          <a:prstGeom prst="rect">
            <a:avLst/>
          </a:prstGeom>
          <a:noFill/>
          <a:ln/>
        </p:spPr>
        <p:txBody>
          <a:bodyPr wrap="square" lIns="0" tIns="0" rIns="0" bIns="0" rtlCol="0" anchor="ctr"/>
          <a:lstStyle/>
          <a:p>
            <a:pPr marL="0" indent="0" algn="ctr">
              <a:buNone/>
            </a:pPr>
            <a:r>
              <a:rPr lang="en-US" sz="1550" b="1" dirty="0">
                <a:solidFill>
                  <a:srgbClr val="1F4E79"/>
                </a:solidFill>
              </a:rPr>
              <a:t>Key learning from seasonality: Autumn is ideal for category-oriented marketing drive.</a:t>
            </a:r>
            <a:endParaRPr lang="en-US" sz="1550" dirty="0"/>
          </a:p>
        </p:txBody>
      </p:sp>
      <p:sp>
        <p:nvSpPr>
          <p:cNvPr id="15" name="Text 11"/>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Frequency, Value, and Segmentation</a:t>
            </a:r>
            <a:endParaRPr lang="en-US" sz="2800" dirty="0"/>
          </a:p>
        </p:txBody>
      </p:sp>
      <p:pic>
        <p:nvPicPr>
          <p:cNvPr id="5" name="Image 0" descr="/mnt/data/customer_purchase_behavior_project/figures/annual_spend_frequency_line.png"/>
          <p:cNvPicPr>
            <a:picLocks noChangeAspect="1"/>
          </p:cNvPicPr>
          <p:nvPr/>
        </p:nvPicPr>
        <p:blipFill>
          <a:blip r:embed="rId3"/>
          <a:stretch>
            <a:fillRect/>
          </a:stretch>
        </p:blipFill>
        <p:spPr>
          <a:xfrm>
            <a:off x="1311298" y="1261872"/>
            <a:ext cx="4235405" cy="2423160"/>
          </a:xfrm>
          <a:prstGeom prst="rect">
            <a:avLst/>
          </a:prstGeom>
        </p:spPr>
      </p:pic>
      <p:pic>
        <p:nvPicPr>
          <p:cNvPr id="6" name="Image 1" descr="/mnt/data/customer_purchase_behavior_project/figures/customer_segments_bar.png"/>
          <p:cNvPicPr>
            <a:picLocks noChangeAspect="1"/>
          </p:cNvPicPr>
          <p:nvPr/>
        </p:nvPicPr>
        <p:blipFill>
          <a:blip r:embed="rId4"/>
          <a:stretch>
            <a:fillRect/>
          </a:stretch>
        </p:blipFill>
        <p:spPr>
          <a:xfrm>
            <a:off x="1800428" y="3749040"/>
            <a:ext cx="3211424" cy="2057400"/>
          </a:xfrm>
          <a:prstGeom prst="rect">
            <a:avLst/>
          </a:prstGeom>
        </p:spPr>
      </p:pic>
      <p:sp>
        <p:nvSpPr>
          <p:cNvPr id="7" name="Shape 3"/>
          <p:cNvSpPr/>
          <p:nvPr/>
        </p:nvSpPr>
        <p:spPr>
          <a:xfrm>
            <a:off x="6400800" y="1234440"/>
            <a:ext cx="5120640" cy="4572000"/>
          </a:xfrm>
          <a:prstGeom prst="roundRect">
            <a:avLst/>
          </a:prstGeom>
          <a:solidFill>
            <a:srgbClr val="EAF2FF"/>
          </a:solidFill>
          <a:ln w="12700">
            <a:solidFill>
              <a:srgbClr val="D4DFEE"/>
            </a:solidFill>
            <a:prstDash val="solid"/>
          </a:ln>
        </p:spPr>
        <p:txBody>
          <a:bodyPr/>
          <a:lstStyle/>
          <a:p>
            <a:endParaRPr lang="en-IN" dirty="0"/>
          </a:p>
        </p:txBody>
      </p:sp>
      <p:sp>
        <p:nvSpPr>
          <p:cNvPr id="8" name="Text 4"/>
          <p:cNvSpPr/>
          <p:nvPr/>
        </p:nvSpPr>
        <p:spPr>
          <a:xfrm>
            <a:off x="6693408" y="1572768"/>
            <a:ext cx="2560320" cy="228600"/>
          </a:xfrm>
          <a:prstGeom prst="rect">
            <a:avLst/>
          </a:prstGeom>
          <a:noFill/>
          <a:ln/>
        </p:spPr>
        <p:txBody>
          <a:bodyPr wrap="square" lIns="0" tIns="0" rIns="0" bIns="0" rtlCol="0" anchor="ctr"/>
          <a:lstStyle/>
          <a:p>
            <a:pPr marL="0" indent="0">
              <a:buNone/>
            </a:pPr>
            <a:r>
              <a:rPr lang="en-US" sz="1800" b="1" dirty="0">
                <a:solidFill>
                  <a:srgbClr val="1F4E79"/>
                </a:solidFill>
              </a:rPr>
              <a:t>Customer Segments</a:t>
            </a:r>
            <a:endParaRPr lang="en-US" sz="1800" dirty="0"/>
          </a:p>
        </p:txBody>
      </p:sp>
      <p:sp>
        <p:nvSpPr>
          <p:cNvPr id="9" name="Text 5"/>
          <p:cNvSpPr/>
          <p:nvPr/>
        </p:nvSpPr>
        <p:spPr>
          <a:xfrm>
            <a:off x="6693408" y="1901952"/>
            <a:ext cx="4526280" cy="1600200"/>
          </a:xfrm>
          <a:prstGeom prst="rect">
            <a:avLst/>
          </a:prstGeom>
          <a:noFill/>
          <a:ln/>
        </p:spPr>
        <p:txBody>
          <a:bodyPr wrap="square" lIns="254" tIns="254" rIns="254" bIns="254" rtlCol="0" anchor="ctr"/>
          <a:lstStyle/>
          <a:p>
            <a:r>
              <a:rPr lang="en-US" sz="1400" dirty="0"/>
              <a:t>High value and frequent customers  </a:t>
            </a:r>
          </a:p>
          <a:p>
            <a:r>
              <a:rPr lang="en-US" sz="1400" dirty="0"/>
              <a:t>High spenders but non-frequent customers  </a:t>
            </a:r>
          </a:p>
          <a:p>
            <a:r>
              <a:rPr lang="en-US" sz="1400" dirty="0"/>
              <a:t>Frequent but low-spending customers  </a:t>
            </a:r>
          </a:p>
          <a:p>
            <a:r>
              <a:rPr lang="en-US" sz="1400" dirty="0"/>
              <a:t>Non-responsive customers</a:t>
            </a:r>
            <a:br>
              <a:rPr lang="en-IN" sz="1400" dirty="0"/>
            </a:br>
            <a:endParaRPr lang="en-US" sz="1400" dirty="0"/>
          </a:p>
        </p:txBody>
      </p:sp>
      <p:sp>
        <p:nvSpPr>
          <p:cNvPr id="10" name="Text 6"/>
          <p:cNvSpPr/>
          <p:nvPr/>
        </p:nvSpPr>
        <p:spPr>
          <a:xfrm>
            <a:off x="6693408" y="3794760"/>
            <a:ext cx="1828800" cy="228600"/>
          </a:xfrm>
          <a:prstGeom prst="rect">
            <a:avLst/>
          </a:prstGeom>
          <a:noFill/>
          <a:ln/>
        </p:spPr>
        <p:txBody>
          <a:bodyPr wrap="square" lIns="0" tIns="0" rIns="0" bIns="0" rtlCol="0" anchor="ctr"/>
          <a:lstStyle/>
          <a:p>
            <a:pPr marL="0" indent="0">
              <a:buNone/>
            </a:pPr>
            <a:r>
              <a:rPr lang="en-US" sz="1800" b="1" dirty="0">
                <a:solidFill>
                  <a:srgbClr val="1F4E79"/>
                </a:solidFill>
              </a:rPr>
              <a:t>Main lesson</a:t>
            </a:r>
            <a:endParaRPr lang="en-US" sz="1800" dirty="0"/>
          </a:p>
        </p:txBody>
      </p:sp>
      <p:sp>
        <p:nvSpPr>
          <p:cNvPr id="11" name="Text 7"/>
          <p:cNvSpPr/>
          <p:nvPr/>
        </p:nvSpPr>
        <p:spPr>
          <a:xfrm>
            <a:off x="6693408" y="4087554"/>
            <a:ext cx="4480560" cy="1197677"/>
          </a:xfrm>
          <a:prstGeom prst="rect">
            <a:avLst/>
          </a:prstGeom>
          <a:noFill/>
          <a:ln/>
        </p:spPr>
        <p:txBody>
          <a:bodyPr wrap="square" lIns="635" tIns="635" rIns="635" bIns="635" rtlCol="0" anchor="ctr"/>
          <a:lstStyle/>
          <a:p>
            <a:pPr marL="0" indent="0">
              <a:buNone/>
            </a:pPr>
            <a:r>
              <a:rPr lang="en-US" sz="1600" dirty="0">
                <a:solidFill>
                  <a:srgbClr val="1F1F1F"/>
                </a:solidFill>
              </a:rPr>
              <a:t>Frequent spending customers may generate significant income even though the amounts spent each time are quite low. Therefore, it is more useful to look at annual spending rather than individual spending amounts.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400" b="1" dirty="0">
                <a:solidFill>
                  <a:srgbClr val="1F1F1F"/>
                </a:solidFill>
                <a:latin typeface="Aptos Display" pitchFamily="34" charset="0"/>
                <a:ea typeface="Aptos Display" pitchFamily="34" charset="-122"/>
                <a:cs typeface="Aptos Display" pitchFamily="34" charset="-120"/>
              </a:rPr>
              <a:t>Demographics, Geography, and Payment Behavior</a:t>
            </a:r>
            <a:endParaRPr lang="en-US" sz="2400" dirty="0"/>
          </a:p>
        </p:txBody>
      </p:sp>
      <p:pic>
        <p:nvPicPr>
          <p:cNvPr id="5" name="Image 0" descr="/mnt/data/customer_purchase_behavior_project/figures/age_distribution_hist.png"/>
          <p:cNvPicPr>
            <a:picLocks noChangeAspect="1"/>
          </p:cNvPicPr>
          <p:nvPr/>
        </p:nvPicPr>
        <p:blipFill>
          <a:blip r:embed="rId3"/>
          <a:stretch>
            <a:fillRect/>
          </a:stretch>
        </p:blipFill>
        <p:spPr>
          <a:xfrm>
            <a:off x="658368" y="1233421"/>
            <a:ext cx="3657600" cy="2004574"/>
          </a:xfrm>
          <a:prstGeom prst="rect">
            <a:avLst/>
          </a:prstGeom>
        </p:spPr>
      </p:pic>
      <p:pic>
        <p:nvPicPr>
          <p:cNvPr id="6" name="Image 1" descr="/mnt/data/customer_purchase_behavior_project/figures/payment_method_bar.png"/>
          <p:cNvPicPr>
            <a:picLocks noChangeAspect="1"/>
          </p:cNvPicPr>
          <p:nvPr/>
        </p:nvPicPr>
        <p:blipFill>
          <a:blip r:embed="rId4"/>
          <a:stretch>
            <a:fillRect/>
          </a:stretch>
        </p:blipFill>
        <p:spPr>
          <a:xfrm>
            <a:off x="710103" y="3611880"/>
            <a:ext cx="3554130" cy="2148840"/>
          </a:xfrm>
          <a:prstGeom prst="rect">
            <a:avLst/>
          </a:prstGeom>
        </p:spPr>
      </p:pic>
      <p:pic>
        <p:nvPicPr>
          <p:cNvPr id="7" name="Image 2" descr="/mnt/data/customer_purchase_behavior_project/figures/top_locations_bar.png"/>
          <p:cNvPicPr>
            <a:picLocks noChangeAspect="1"/>
          </p:cNvPicPr>
          <p:nvPr/>
        </p:nvPicPr>
        <p:blipFill>
          <a:blip r:embed="rId5"/>
          <a:stretch>
            <a:fillRect/>
          </a:stretch>
        </p:blipFill>
        <p:spPr>
          <a:xfrm>
            <a:off x="4526280" y="2315088"/>
            <a:ext cx="3977640" cy="2364984"/>
          </a:xfrm>
          <a:prstGeom prst="rect">
            <a:avLst/>
          </a:prstGeom>
        </p:spPr>
      </p:pic>
      <p:sp>
        <p:nvSpPr>
          <p:cNvPr id="8" name="Shape 3"/>
          <p:cNvSpPr/>
          <p:nvPr/>
        </p:nvSpPr>
        <p:spPr>
          <a:xfrm>
            <a:off x="8732520" y="1464906"/>
            <a:ext cx="2834640" cy="4295814"/>
          </a:xfrm>
          <a:prstGeom prst="roundRect">
            <a:avLst/>
          </a:prstGeom>
          <a:solidFill>
            <a:srgbClr val="F5F8FC"/>
          </a:solidFill>
          <a:ln w="12700">
            <a:solidFill>
              <a:srgbClr val="D4DFEE"/>
            </a:solidFill>
            <a:prstDash val="solid"/>
          </a:ln>
        </p:spPr>
        <p:txBody>
          <a:bodyPr/>
          <a:lstStyle/>
          <a:p>
            <a:endParaRPr lang="en-IN" dirty="0"/>
          </a:p>
        </p:txBody>
      </p:sp>
      <p:sp>
        <p:nvSpPr>
          <p:cNvPr id="9" name="Text 4"/>
          <p:cNvSpPr/>
          <p:nvPr/>
        </p:nvSpPr>
        <p:spPr>
          <a:xfrm>
            <a:off x="8914094" y="1698077"/>
            <a:ext cx="2011680" cy="228600"/>
          </a:xfrm>
          <a:prstGeom prst="rect">
            <a:avLst/>
          </a:prstGeom>
          <a:noFill/>
          <a:ln/>
        </p:spPr>
        <p:txBody>
          <a:bodyPr wrap="square" lIns="0" tIns="0" rIns="0" bIns="0" rtlCol="0" anchor="ctr"/>
          <a:lstStyle/>
          <a:p>
            <a:pPr marL="0" indent="0">
              <a:buNone/>
            </a:pPr>
            <a:r>
              <a:rPr lang="en-US" sz="1600" b="1" dirty="0">
                <a:solidFill>
                  <a:srgbClr val="1F4E79"/>
                </a:solidFill>
              </a:rPr>
              <a:t>Reading</a:t>
            </a:r>
            <a:endParaRPr lang="en-US" sz="1600" dirty="0"/>
          </a:p>
        </p:txBody>
      </p:sp>
      <p:sp>
        <p:nvSpPr>
          <p:cNvPr id="10" name="Text 5"/>
          <p:cNvSpPr/>
          <p:nvPr/>
        </p:nvSpPr>
        <p:spPr>
          <a:xfrm>
            <a:off x="8914094" y="2365263"/>
            <a:ext cx="2331720" cy="2682551"/>
          </a:xfrm>
          <a:prstGeom prst="rect">
            <a:avLst/>
          </a:prstGeom>
          <a:noFill/>
          <a:ln/>
        </p:spPr>
        <p:txBody>
          <a:bodyPr wrap="square" lIns="381" tIns="381" rIns="381" bIns="381" rtlCol="0" anchor="ctr"/>
          <a:lstStyle/>
          <a:p>
            <a:pPr marL="0" indent="0">
              <a:buNone/>
            </a:pPr>
            <a:r>
              <a:rPr lang="en-US" sz="1530" dirty="0">
                <a:solidFill>
                  <a:srgbClr val="1F1F1F"/>
                </a:solidFill>
              </a:rPr>
              <a:t>- The clients represent various age ranges.</a:t>
            </a:r>
          </a:p>
          <a:p>
            <a:pPr marL="0" indent="0">
              <a:buNone/>
            </a:pPr>
            <a:r>
              <a:rPr lang="en-US" sz="1530" dirty="0">
                <a:solidFill>
                  <a:srgbClr val="1F1F1F"/>
                </a:solidFill>
              </a:rPr>
              <a:t>- Credit and debit cards are used more by high spenders.</a:t>
            </a:r>
          </a:p>
          <a:p>
            <a:pPr marL="0" indent="0">
              <a:buNone/>
            </a:pPr>
            <a:r>
              <a:rPr lang="en-US" sz="1530" dirty="0">
                <a:solidFill>
                  <a:srgbClr val="1F1F1F"/>
                </a:solidFill>
              </a:rPr>
              <a:t>- Some states (such as California, Illinois) have higher total spending.</a:t>
            </a:r>
          </a:p>
          <a:p>
            <a:pPr marL="0" indent="0">
              <a:buNone/>
            </a:pPr>
            <a:endParaRPr lang="en-US" sz="1530" dirty="0">
              <a:solidFill>
                <a:srgbClr val="1F1F1F"/>
              </a:solidFill>
            </a:endParaRPr>
          </a:p>
          <a:p>
            <a:pPr marL="0" indent="0">
              <a:buNone/>
            </a:pPr>
            <a:r>
              <a:rPr lang="en-US" sz="1530" dirty="0">
                <a:solidFill>
                  <a:srgbClr val="1F1F1F"/>
                </a:solidFill>
              </a:rPr>
              <a:t>- The differences exist, but they are not very significant. As a result, the factors mentioned above must be taken into account along with other factors.</a:t>
            </a:r>
            <a:endParaRPr lang="en-US" sz="1300" dirty="0"/>
          </a:p>
        </p:txBody>
      </p:sp>
      <p:sp>
        <p:nvSpPr>
          <p:cNvPr id="11" name="Text 6"/>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Business Implications</a:t>
            </a:r>
            <a:endParaRPr lang="en-US" sz="2800" dirty="0"/>
          </a:p>
        </p:txBody>
      </p:sp>
      <p:pic>
        <p:nvPicPr>
          <p:cNvPr id="5" name="Image 0" descr="/mnt/data/customer_purchase_behavior_project/figures/dashboard_summary.png"/>
          <p:cNvPicPr>
            <a:picLocks noChangeAspect="1"/>
          </p:cNvPicPr>
          <p:nvPr/>
        </p:nvPicPr>
        <p:blipFill>
          <a:blip r:embed="rId3"/>
          <a:stretch>
            <a:fillRect/>
          </a:stretch>
        </p:blipFill>
        <p:spPr>
          <a:xfrm>
            <a:off x="658368" y="1676659"/>
            <a:ext cx="5715000" cy="3824722"/>
          </a:xfrm>
          <a:prstGeom prst="rect">
            <a:avLst/>
          </a:prstGeom>
        </p:spPr>
      </p:pic>
      <p:sp>
        <p:nvSpPr>
          <p:cNvPr id="6" name="Text 3"/>
          <p:cNvSpPr/>
          <p:nvPr/>
        </p:nvSpPr>
        <p:spPr>
          <a:xfrm>
            <a:off x="6656832" y="1394045"/>
            <a:ext cx="4498848" cy="251875"/>
          </a:xfrm>
          <a:prstGeom prst="rect">
            <a:avLst/>
          </a:prstGeom>
          <a:noFill/>
          <a:ln/>
        </p:spPr>
        <p:txBody>
          <a:bodyPr wrap="square" lIns="0" tIns="0" rIns="0" bIns="0" rtlCol="0" anchor="ctr"/>
          <a:lstStyle/>
          <a:p>
            <a:pPr marL="0" indent="0">
              <a:buNone/>
            </a:pPr>
            <a:r>
              <a:rPr lang="en-US" sz="1800" b="1" dirty="0">
                <a:solidFill>
                  <a:srgbClr val="1F4E79"/>
                </a:solidFill>
              </a:rPr>
              <a:t>Based on the analysis, a business could:	</a:t>
            </a:r>
            <a:endParaRPr lang="en-US" sz="1800" dirty="0"/>
          </a:p>
        </p:txBody>
      </p:sp>
      <p:sp>
        <p:nvSpPr>
          <p:cNvPr id="7" name="Shape 4"/>
          <p:cNvSpPr/>
          <p:nvPr/>
        </p:nvSpPr>
        <p:spPr>
          <a:xfrm>
            <a:off x="6629400" y="1783080"/>
            <a:ext cx="4754880" cy="713232"/>
          </a:xfrm>
          <a:prstGeom prst="roundRect">
            <a:avLst/>
          </a:prstGeom>
          <a:solidFill>
            <a:srgbClr val="EAF2FF"/>
          </a:solidFill>
          <a:ln w="12700">
            <a:solidFill>
              <a:srgbClr val="D4DFEE"/>
            </a:solidFill>
            <a:prstDash val="solid"/>
          </a:ln>
        </p:spPr>
      </p:sp>
      <p:sp>
        <p:nvSpPr>
          <p:cNvPr id="8" name="Text 5"/>
          <p:cNvSpPr/>
          <p:nvPr/>
        </p:nvSpPr>
        <p:spPr>
          <a:xfrm>
            <a:off x="6858000" y="1975104"/>
            <a:ext cx="4297680" cy="226920"/>
          </a:xfrm>
          <a:prstGeom prst="rect">
            <a:avLst/>
          </a:prstGeom>
          <a:noFill/>
          <a:ln/>
        </p:spPr>
        <p:txBody>
          <a:bodyPr wrap="square" lIns="0" tIns="0" rIns="0" bIns="0" rtlCol="0" anchor="ctr"/>
          <a:lstStyle/>
          <a:p>
            <a:pPr marL="0" indent="0">
              <a:buNone/>
            </a:pPr>
            <a:r>
              <a:rPr lang="en-US" sz="1600" dirty="0">
                <a:solidFill>
                  <a:srgbClr val="1F1F1F"/>
                </a:solidFill>
              </a:rPr>
              <a:t>1. </a:t>
            </a:r>
            <a:r>
              <a:rPr lang="en-US" sz="1400" dirty="0"/>
              <a:t>Focus more on apparel as the main category</a:t>
            </a:r>
            <a:r>
              <a:rPr lang="en-US" sz="1600" dirty="0">
                <a:solidFill>
                  <a:srgbClr val="1F1F1F"/>
                </a:solidFill>
              </a:rPr>
              <a:t>.</a:t>
            </a:r>
          </a:p>
        </p:txBody>
      </p:sp>
      <p:sp>
        <p:nvSpPr>
          <p:cNvPr id="9" name="Shape 6"/>
          <p:cNvSpPr/>
          <p:nvPr/>
        </p:nvSpPr>
        <p:spPr>
          <a:xfrm>
            <a:off x="6629400" y="2697480"/>
            <a:ext cx="4754880" cy="713232"/>
          </a:xfrm>
          <a:prstGeom prst="roundRect">
            <a:avLst/>
          </a:prstGeom>
          <a:solidFill>
            <a:srgbClr val="FFFFFF"/>
          </a:solidFill>
          <a:ln w="12700">
            <a:solidFill>
              <a:srgbClr val="D4DFEE"/>
            </a:solidFill>
            <a:prstDash val="solid"/>
          </a:ln>
        </p:spPr>
      </p:sp>
      <p:sp>
        <p:nvSpPr>
          <p:cNvPr id="10" name="Text 7"/>
          <p:cNvSpPr/>
          <p:nvPr/>
        </p:nvSpPr>
        <p:spPr>
          <a:xfrm>
            <a:off x="6858000" y="2889504"/>
            <a:ext cx="4297680" cy="310896"/>
          </a:xfrm>
          <a:prstGeom prst="rect">
            <a:avLst/>
          </a:prstGeom>
          <a:noFill/>
          <a:ln/>
        </p:spPr>
        <p:txBody>
          <a:bodyPr wrap="square" lIns="0" tIns="0" rIns="0" bIns="0" rtlCol="0" anchor="ctr"/>
          <a:lstStyle/>
          <a:p>
            <a:pPr marL="0" indent="0">
              <a:buNone/>
            </a:pPr>
            <a:r>
              <a:rPr lang="en-US" sz="1600" dirty="0">
                <a:solidFill>
                  <a:srgbClr val="1F1F1F"/>
                </a:solidFill>
              </a:rPr>
              <a:t>2. </a:t>
            </a:r>
            <a:r>
              <a:rPr lang="en-US" sz="1400" dirty="0"/>
              <a:t>Bundle accessories with clothing items</a:t>
            </a:r>
            <a:r>
              <a:rPr lang="en-US" sz="1600" dirty="0">
                <a:solidFill>
                  <a:srgbClr val="1F1F1F"/>
                </a:solidFill>
              </a:rPr>
              <a:t>.</a:t>
            </a:r>
            <a:endParaRPr lang="en-US" sz="1600" dirty="0"/>
          </a:p>
        </p:txBody>
      </p:sp>
      <p:sp>
        <p:nvSpPr>
          <p:cNvPr id="11" name="Shape 8"/>
          <p:cNvSpPr/>
          <p:nvPr/>
        </p:nvSpPr>
        <p:spPr>
          <a:xfrm>
            <a:off x="6629400" y="3611880"/>
            <a:ext cx="4754880" cy="606811"/>
          </a:xfrm>
          <a:prstGeom prst="roundRect">
            <a:avLst/>
          </a:prstGeom>
          <a:solidFill>
            <a:srgbClr val="EAF2FF"/>
          </a:solidFill>
          <a:ln w="12700">
            <a:solidFill>
              <a:srgbClr val="D4DFEE"/>
            </a:solidFill>
            <a:prstDash val="solid"/>
          </a:ln>
        </p:spPr>
      </p:sp>
      <p:sp>
        <p:nvSpPr>
          <p:cNvPr id="13" name="Shape 10"/>
          <p:cNvSpPr/>
          <p:nvPr/>
        </p:nvSpPr>
        <p:spPr>
          <a:xfrm>
            <a:off x="6629400" y="4503005"/>
            <a:ext cx="4754880" cy="713232"/>
          </a:xfrm>
          <a:prstGeom prst="roundRect">
            <a:avLst/>
          </a:prstGeom>
          <a:solidFill>
            <a:srgbClr val="FFFFFF"/>
          </a:solidFill>
          <a:ln w="12700">
            <a:solidFill>
              <a:srgbClr val="D4DFEE"/>
            </a:solidFill>
            <a:prstDash val="solid"/>
          </a:ln>
        </p:spPr>
      </p:sp>
      <p:sp>
        <p:nvSpPr>
          <p:cNvPr id="14" name="Text 11"/>
          <p:cNvSpPr/>
          <p:nvPr/>
        </p:nvSpPr>
        <p:spPr>
          <a:xfrm>
            <a:off x="6858000" y="4718304"/>
            <a:ext cx="4297680" cy="310896"/>
          </a:xfrm>
          <a:prstGeom prst="rect">
            <a:avLst/>
          </a:prstGeom>
          <a:noFill/>
          <a:ln/>
        </p:spPr>
        <p:txBody>
          <a:bodyPr wrap="square" lIns="0" tIns="0" rIns="0" bIns="0" rtlCol="0" anchor="ctr"/>
          <a:lstStyle/>
          <a:p>
            <a:r>
              <a:rPr lang="en-US" sz="1620" dirty="0">
                <a:solidFill>
                  <a:srgbClr val="1F1F1F"/>
                </a:solidFill>
              </a:rPr>
              <a:t>4. </a:t>
            </a:r>
            <a:r>
              <a:rPr lang="en-US" sz="1400" dirty="0"/>
              <a:t>Give importance to repeat customers, even if they spend less per purchase </a:t>
            </a:r>
            <a:r>
              <a:rPr lang="en-US" sz="1620" dirty="0">
                <a:solidFill>
                  <a:srgbClr val="1F1F1F"/>
                </a:solidFill>
              </a:rPr>
              <a:t>.</a:t>
            </a:r>
            <a:endParaRPr lang="en-US" sz="1620" dirty="0"/>
          </a:p>
        </p:txBody>
      </p:sp>
      <p:sp>
        <p:nvSpPr>
          <p:cNvPr id="15" name="Text 12"/>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
        <p:nvSpPr>
          <p:cNvPr id="16" name="Text 9"/>
          <p:cNvSpPr/>
          <p:nvPr/>
        </p:nvSpPr>
        <p:spPr>
          <a:xfrm>
            <a:off x="6858000" y="3739896"/>
            <a:ext cx="4297680" cy="310896"/>
          </a:xfrm>
          <a:prstGeom prst="rect">
            <a:avLst/>
          </a:prstGeom>
          <a:noFill/>
          <a:ln/>
        </p:spPr>
        <p:txBody>
          <a:bodyPr wrap="square" lIns="0" tIns="0" rIns="0" bIns="0" rtlCol="0" anchor="ctr"/>
          <a:lstStyle/>
          <a:p>
            <a:pPr marL="0" indent="0">
              <a:buNone/>
            </a:pPr>
            <a:r>
              <a:rPr lang="en-US" sz="1620" dirty="0">
                <a:solidFill>
                  <a:srgbClr val="1F1F1F"/>
                </a:solidFill>
              </a:rPr>
              <a:t>3. </a:t>
            </a:r>
            <a:r>
              <a:rPr lang="en-US" sz="1400" dirty="0"/>
              <a:t>Plan marketing campaigns around the fall season</a:t>
            </a:r>
            <a:r>
              <a:rPr lang="en-US" sz="1620" dirty="0">
                <a:solidFill>
                  <a:srgbClr val="1F1F1F"/>
                </a:solidFill>
              </a:rPr>
              <a:t>.</a:t>
            </a:r>
            <a:endParaRPr lang="en-US" sz="1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Conclusion and Submission Assets</a:t>
            </a:r>
            <a:endParaRPr lang="en-US" sz="2800" dirty="0"/>
          </a:p>
        </p:txBody>
      </p:sp>
      <p:sp>
        <p:nvSpPr>
          <p:cNvPr id="5" name="Shape 3"/>
          <p:cNvSpPr/>
          <p:nvPr/>
        </p:nvSpPr>
        <p:spPr>
          <a:xfrm>
            <a:off x="3139191" y="1325880"/>
            <a:ext cx="5212080" cy="3964577"/>
          </a:xfrm>
          <a:prstGeom prst="roundRect">
            <a:avLst/>
          </a:prstGeom>
          <a:solidFill>
            <a:srgbClr val="F5F8FC"/>
          </a:solidFill>
          <a:ln w="12700">
            <a:solidFill>
              <a:srgbClr val="D4DFEE"/>
            </a:solidFill>
            <a:prstDash val="solid"/>
          </a:ln>
        </p:spPr>
      </p:sp>
      <p:sp>
        <p:nvSpPr>
          <p:cNvPr id="6" name="Text 4"/>
          <p:cNvSpPr/>
          <p:nvPr/>
        </p:nvSpPr>
        <p:spPr>
          <a:xfrm>
            <a:off x="3534810" y="2013919"/>
            <a:ext cx="1828800" cy="228600"/>
          </a:xfrm>
          <a:prstGeom prst="rect">
            <a:avLst/>
          </a:prstGeom>
          <a:noFill/>
          <a:ln/>
        </p:spPr>
        <p:txBody>
          <a:bodyPr wrap="square" lIns="0" tIns="0" rIns="0" bIns="0" rtlCol="0" anchor="ctr"/>
          <a:lstStyle/>
          <a:p>
            <a:pPr marL="0" indent="0">
              <a:buNone/>
            </a:pPr>
            <a:r>
              <a:rPr lang="en-US" sz="1900" b="1" dirty="0">
                <a:solidFill>
                  <a:srgbClr val="1F4E79"/>
                </a:solidFill>
              </a:rPr>
              <a:t>Conclusion</a:t>
            </a:r>
            <a:endParaRPr lang="en-US" sz="1900" dirty="0"/>
          </a:p>
        </p:txBody>
      </p:sp>
      <p:sp>
        <p:nvSpPr>
          <p:cNvPr id="7" name="Text 5"/>
          <p:cNvSpPr/>
          <p:nvPr/>
        </p:nvSpPr>
        <p:spPr>
          <a:xfrm>
            <a:off x="3534810" y="2018771"/>
            <a:ext cx="4617720" cy="1143000"/>
          </a:xfrm>
          <a:prstGeom prst="rect">
            <a:avLst/>
          </a:prstGeom>
          <a:noFill/>
          <a:ln/>
        </p:spPr>
        <p:txBody>
          <a:bodyPr wrap="square" lIns="635" tIns="635" rIns="635" bIns="635" rtlCol="0" anchor="ctr"/>
          <a:lstStyle/>
          <a:p>
            <a:pPr marL="0" indent="0">
              <a:buNone/>
            </a:pPr>
            <a:r>
              <a:rPr lang="en-US" sz="1400" dirty="0"/>
              <a:t>As part of this project, I analyzed consumer behavior using actual data and found patterns related to product categories, seasonal effects, and consumer segments.</a:t>
            </a:r>
          </a:p>
        </p:txBody>
      </p:sp>
      <p:sp>
        <p:nvSpPr>
          <p:cNvPr id="8" name="Text 6"/>
          <p:cNvSpPr/>
          <p:nvPr/>
        </p:nvSpPr>
        <p:spPr>
          <a:xfrm>
            <a:off x="3534810" y="3547778"/>
            <a:ext cx="2926080" cy="228600"/>
          </a:xfrm>
          <a:prstGeom prst="rect">
            <a:avLst/>
          </a:prstGeom>
          <a:noFill/>
          <a:ln/>
        </p:spPr>
        <p:txBody>
          <a:bodyPr wrap="square" lIns="0" tIns="0" rIns="0" bIns="0" rtlCol="0" anchor="ctr"/>
          <a:lstStyle/>
          <a:p>
            <a:pPr marL="0" indent="0">
              <a:buNone/>
            </a:pPr>
            <a:r>
              <a:rPr lang="en-US" sz="1800" b="1" dirty="0">
                <a:solidFill>
                  <a:srgbClr val="1F4E79"/>
                </a:solidFill>
              </a:rPr>
              <a:t>Important note</a:t>
            </a:r>
            <a:endParaRPr lang="en-US" sz="1800" dirty="0"/>
          </a:p>
        </p:txBody>
      </p:sp>
      <p:sp>
        <p:nvSpPr>
          <p:cNvPr id="9" name="Text 7"/>
          <p:cNvSpPr/>
          <p:nvPr/>
        </p:nvSpPr>
        <p:spPr>
          <a:xfrm>
            <a:off x="3534810" y="3768914"/>
            <a:ext cx="4617720" cy="914400"/>
          </a:xfrm>
          <a:prstGeom prst="rect">
            <a:avLst/>
          </a:prstGeom>
          <a:noFill/>
          <a:ln/>
        </p:spPr>
        <p:txBody>
          <a:bodyPr wrap="square" lIns="635" tIns="635" rIns="635" bIns="635" rtlCol="0" anchor="ctr"/>
          <a:lstStyle/>
          <a:p>
            <a:pPr marL="0" indent="0">
              <a:buNone/>
            </a:pPr>
            <a:r>
              <a:rPr lang="en-US" sz="1400" dirty="0"/>
              <a:t>Since the data is at the consumer level and not at the transaction level, some parameters such as purchase frequency and CLV are approximations. This was considered while drawing conclusions..</a:t>
            </a:r>
          </a:p>
        </p:txBody>
      </p:sp>
      <p:sp>
        <p:nvSpPr>
          <p:cNvPr id="19" name="Text 17"/>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F5C09D419E994EB90455178834C04A" ma:contentTypeVersion="9" ma:contentTypeDescription="Create a new document." ma:contentTypeScope="" ma:versionID="f5dd59860560fd71a7053c8d60389f84">
  <xsd:schema xmlns:xsd="http://www.w3.org/2001/XMLSchema" xmlns:xs="http://www.w3.org/2001/XMLSchema" xmlns:p="http://schemas.microsoft.com/office/2006/metadata/properties" xmlns:ns3="57241adc-743f-4efc-9541-e58c9ec56b03" targetNamespace="http://schemas.microsoft.com/office/2006/metadata/properties" ma:root="true" ma:fieldsID="8f3ee854e84fd06b1af211097300b610" ns3:_="">
    <xsd:import namespace="57241adc-743f-4efc-9541-e58c9ec56b0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241adc-743f-4efc-9541-e58c9ec56b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7241adc-743f-4efc-9541-e58c9ec56b03" xsi:nil="true"/>
  </documentManagement>
</p:properties>
</file>

<file path=customXml/itemProps1.xml><?xml version="1.0" encoding="utf-8"?>
<ds:datastoreItem xmlns:ds="http://schemas.openxmlformats.org/officeDocument/2006/customXml" ds:itemID="{F7AB637C-EDBB-4F3E-8862-AFD5B664E7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241adc-743f-4efc-9541-e58c9ec56b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F4EA58-D771-4416-9017-ACDA9EDFC631}">
  <ds:schemaRefs>
    <ds:schemaRef ds:uri="http://schemas.microsoft.com/sharepoint/v3/contenttype/forms"/>
  </ds:schemaRefs>
</ds:datastoreItem>
</file>

<file path=customXml/itemProps3.xml><?xml version="1.0" encoding="utf-8"?>
<ds:datastoreItem xmlns:ds="http://schemas.openxmlformats.org/officeDocument/2006/customXml" ds:itemID="{AAA31E21-DE71-4E83-BB8B-69F4EB0E6071}">
  <ds:schemaRefs>
    <ds:schemaRef ds:uri="http://purl.org/dc/terms/"/>
    <ds:schemaRef ds:uri="http://purl.org/dc/elements/1.1/"/>
    <ds:schemaRef ds:uri="http://purl.org/dc/dcmitype/"/>
    <ds:schemaRef ds:uri="http://www.w3.org/XML/1998/namespace"/>
    <ds:schemaRef ds:uri="http://schemas.microsoft.com/office/2006/documentManagement/types"/>
    <ds:schemaRef ds:uri="57241adc-743f-4efc-9541-e58c9ec56b03"/>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TotalTime>
  <Words>1379</Words>
  <Application>Microsoft Office PowerPoint</Application>
  <PresentationFormat>Widescreen</PresentationFormat>
  <Paragraphs>94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Chaudhary</dc:creator>
  <cp:lastModifiedBy>Krishna Chaudhary</cp:lastModifiedBy>
  <cp:revision>1</cp:revision>
  <dcterms:created xsi:type="dcterms:W3CDTF">2026-04-28T17:30:25Z</dcterms:created>
  <dcterms:modified xsi:type="dcterms:W3CDTF">2026-04-28T17:31:35Z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0x010100AEF5C09D419E994EB90455178834C04A</vt:lpwstr>
  </property>
</Properties>
</file>